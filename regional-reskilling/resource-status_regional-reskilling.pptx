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</p:sldMasterIdLst>
  <p:notesMasterIdLst>
    <p:notesMasterId r:id="rId6"/>
  </p:notesMasterIdLst>
  <p:sldIdLst>
    <p:sldId id="262" r:id="rId5"/>
  </p:sldIdLst>
  <p:sldSz cx="9906000" cy="6858000" type="A4"/>
  <p:notesSz cx="6807200" cy="9939338"/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28F02B-B1DC-AF5D-019D-D22B89116F77}" name="Nakato, Sakura" initials="NS" userId="Nakato, Sakura" providerId="None"/>
  <p188:author id="{32250A2E-E188-649A-D56E-A2F6429CA8DE}" name="Soeda, Satomi" initials="SS" userId="Soeda, Satomi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20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A9"/>
    <a:srgbClr val="F6F4EF"/>
    <a:srgbClr val="009A44"/>
    <a:srgbClr val="DDEFE8"/>
    <a:srgbClr val="FF9933"/>
    <a:srgbClr val="FFF0A3"/>
    <a:srgbClr val="FFDE33"/>
    <a:srgbClr val="0D8390"/>
    <a:srgbClr val="9ED47F"/>
    <a:srgbClr val="98D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06" autoAdjust="0"/>
    <p:restoredTop sz="95338" autoAdjust="0"/>
  </p:normalViewPr>
  <p:slideViewPr>
    <p:cSldViewPr snapToGrid="0" showGuides="1">
      <p:cViewPr varScale="1">
        <p:scale>
          <a:sx n="82" d="100"/>
          <a:sy n="82" d="100"/>
        </p:scale>
        <p:origin x="552" y="96"/>
      </p:cViewPr>
      <p:guideLst>
        <p:guide pos="3120"/>
        <p:guide orient="horz" pos="21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375" cy="498966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221" y="0"/>
            <a:ext cx="2950374" cy="498966"/>
          </a:xfrm>
          <a:prstGeom prst="rect">
            <a:avLst/>
          </a:prstGeom>
        </p:spPr>
        <p:txBody>
          <a:bodyPr vert="horz" lIns="92236" tIns="46118" rIns="92236" bIns="46118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/>
              <a:pPr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36" tIns="46118" rIns="92236" bIns="46118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239" y="4783357"/>
            <a:ext cx="5446723" cy="3913364"/>
          </a:xfrm>
          <a:prstGeom prst="rect">
            <a:avLst/>
          </a:prstGeom>
        </p:spPr>
        <p:txBody>
          <a:bodyPr vert="horz" lIns="92236" tIns="46118" rIns="92236" bIns="46118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0372"/>
            <a:ext cx="2950375" cy="498966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221" y="9440372"/>
            <a:ext cx="2950374" cy="498966"/>
          </a:xfrm>
          <a:prstGeom prst="rect">
            <a:avLst/>
          </a:prstGeom>
        </p:spPr>
        <p:txBody>
          <a:bodyPr vert="horz" lIns="92236" tIns="46118" rIns="92236" bIns="46118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_ ロゴ入り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7499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953000" y="396000"/>
            <a:ext cx="4536000" cy="676800"/>
          </a:xfrm>
          <a:prstGeom prst="rect">
            <a:avLst/>
          </a:prstGeom>
        </p:spPr>
        <p:txBody>
          <a:bodyPr l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 baseline="0">
                <a:latin typeface="+mn-lt"/>
                <a:ea typeface="+mn-ea"/>
                <a:cs typeface="+mn-cs"/>
                <a:sym typeface="+mn-lt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 dirty="0"/>
              <a:t>クライアント社名</a:t>
            </a: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6496" y="432000"/>
            <a:ext cx="1872000" cy="587972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0424FA-1860-43B7-8A94-43021EEC50FC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タイトル ロゴ無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8639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2523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17600" y="5040000"/>
            <a:ext cx="4536000" cy="615553"/>
          </a:xfrm>
        </p:spPr>
        <p:txBody>
          <a:bodyPr vert="horz" anchor="b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表紙タイトル</a:t>
            </a:r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17600" y="5652000"/>
            <a:ext cx="4536000" cy="49244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 dirty="0"/>
              <a:t>表紙サブタイトル</a:t>
            </a:r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17599" y="6408000"/>
            <a:ext cx="453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5C5A3295-3564-4576-96DB-80CBF7A205A7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 目次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83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17000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5133000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10000"/>
              </a:lnSpc>
              <a:spcBef>
                <a:spcPts val="600"/>
              </a:spcBef>
              <a:tabLst>
                <a:tab pos="5448101" algn="r"/>
              </a:tabLst>
              <a:defRPr sz="1200">
                <a:latin typeface="+mn-lt"/>
                <a:ea typeface="+mn-ea"/>
                <a:cs typeface="+mn-cs"/>
                <a:sym typeface="+mn-lt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 白紙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0479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893000" y="2340000"/>
            <a:ext cx="6120000" cy="252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中表紙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675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29599" y="2232000"/>
            <a:ext cx="5184000" cy="432000"/>
          </a:xfrm>
          <a:prstGeom prst="rect">
            <a:avLst/>
          </a:prstGeom>
          <a:noFill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  <a:sym typeface="+mn-lt"/>
              </a:defRPr>
            </a:lvl1pPr>
          </a:lstStyle>
          <a:p>
            <a:pPr lvl="0"/>
            <a:r>
              <a:rPr lang="ja-JP" altLang="en-US" dirty="0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タイトルのみ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2286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936300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タイトルのみ_Header上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69020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80000"/>
            <a:ext cx="9072000" cy="360000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100" b="1" baseline="0">
                <a:solidFill>
                  <a:schemeClr val="tx1"/>
                </a:solidFill>
                <a:latin typeface="+mj-lt"/>
                <a:ea typeface="+mj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16496" y="684000"/>
            <a:ext cx="9072000" cy="615600"/>
          </a:xfrm>
        </p:spPr>
        <p:txBody>
          <a:bodyPr vert="horz" anchor="t"/>
          <a:lstStyle>
            <a:lvl1pPr>
              <a:defRPr sz="1800" b="0" baseline="0">
                <a:latin typeface="+mn-lt"/>
                <a:ea typeface="+mn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1952206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基本版） コンテンツ左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9392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496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marR="0" indent="-144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  <a:lvl5pPr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0822A2BF-4EE5-45F6-88E1-9AA10A8C672A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06882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（基本版） コンテンツ両サイド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21900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496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marR="0" indent="-144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9" name="コンテンツ プレースホルダ 2"/>
          <p:cNvSpPr>
            <a:spLocks noGrp="1"/>
          </p:cNvSpPr>
          <p:nvPr>
            <p:ph idx="12"/>
          </p:nvPr>
        </p:nvSpPr>
        <p:spPr bwMode="gray">
          <a:xfrm>
            <a:off x="5132388" y="1476000"/>
            <a:ext cx="435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indent="-1440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10" name="スライド番号プレースホルダ 9"/>
          <p:cNvSpPr>
            <a:spLocks noGrp="1"/>
          </p:cNvSpPr>
          <p:nvPr>
            <p:ph type="sldNum" sz="quarter" idx="13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A3EB1B23-9AF8-425B-BAD7-B9FA00F1883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13" name="テキスト プレースホルダー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2388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493855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 コンテンツ全面_レベル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8105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コンテンツ プレースホルダ 2"/>
          <p:cNvSpPr>
            <a:spLocks noGrp="1"/>
          </p:cNvSpPr>
          <p:nvPr>
            <p:ph idx="1"/>
          </p:nvPr>
        </p:nvSpPr>
        <p:spPr bwMode="gray">
          <a:xfrm>
            <a:off x="416999" y="1476000"/>
            <a:ext cx="907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Font typeface="Arial" pitchFamily="34" charset="0"/>
              <a:buNone/>
              <a:defRPr sz="1200" baseline="0">
                <a:latin typeface="+mn-lt"/>
                <a:ea typeface="+mn-ea"/>
                <a:cs typeface="+mn-cs"/>
                <a:sym typeface="+mn-lt"/>
              </a:defRPr>
            </a:lvl1pPr>
            <a:lvl2pPr marL="18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200" baseline="0">
                <a:latin typeface="+mn-lt"/>
                <a:ea typeface="+mn-ea"/>
                <a:cs typeface="+mn-cs"/>
                <a:sym typeface="+mn-lt"/>
              </a:defRPr>
            </a:lvl2pPr>
            <a:lvl3pPr marL="360000" indent="-180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200" baseline="0">
                <a:latin typeface="+mn-lt"/>
                <a:ea typeface="+mn-ea"/>
                <a:cs typeface="+mn-cs"/>
                <a:sym typeface="+mn-lt"/>
              </a:defRPr>
            </a:lvl3pPr>
            <a:lvl4pPr marL="504000" indent="-144000">
              <a:lnSpc>
                <a:spcPct val="110000"/>
              </a:lnSpc>
              <a:spcBef>
                <a:spcPts val="600"/>
              </a:spcBef>
              <a:buFont typeface="Arial" pitchFamily="34" charset="0"/>
              <a:buChar char="•"/>
              <a:defRPr sz="1200" baseline="0">
                <a:latin typeface="+mn-lt"/>
                <a:ea typeface="+mn-ea"/>
                <a:cs typeface="+mn-cs"/>
                <a:sym typeface="+mn-lt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0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543A0986-838B-4D2A-A95C-8CB1738263F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フッター プレースホルダ 9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GB" altLang="en-GB"/>
              <a:t>DT Template A4</a:t>
            </a:r>
            <a:endParaRPr lang="en-GB" altLang="en-GB" dirty="0"/>
          </a:p>
        </p:txBody>
      </p:sp>
      <p:sp>
        <p:nvSpPr>
          <p:cNvPr id="8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6496" y="1008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3" name="タイトル 2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382665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白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985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latin typeface="+mn-lt"/>
              <a:cs typeface="+mn-cs"/>
              <a:sym typeface="+mn-lt"/>
            </a:endParaRP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D4831B1-A04A-42C3-BD52-942B25744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7F14F7E8-2C42-4BD2-8B4C-7C658763AB7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17600" y="432000"/>
            <a:ext cx="1872000" cy="587972"/>
          </a:xfrm>
          <a:prstGeom prst="rect">
            <a:avLst/>
          </a:prstGeom>
        </p:spPr>
      </p:pic>
      <p:sp>
        <p:nvSpPr>
          <p:cNvPr id="8" name="Text Box 37">
            <a:extLst>
              <a:ext uri="{FF2B5EF4-FFF2-40B4-BE49-F238E27FC236}">
                <a16:creationId xmlns:a16="http://schemas.microsoft.com/office/drawing/2014/main" id="{D6BA3D81-CAD1-43DC-A531-54F7C4DC8DF8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4" name="図 3" descr="ロゴ, 会社名&#10;&#10;自動的に生成された説明">
            <a:extLst>
              <a:ext uri="{FF2B5EF4-FFF2-40B4-BE49-F238E27FC236}">
                <a16:creationId xmlns:a16="http://schemas.microsoft.com/office/drawing/2014/main" id="{784D5B73-DF9C-49AC-94A2-96EF6F33C25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502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30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白_トーマツロゴ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586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563" imgH="564" progId="TCLayout.ActiveDocument.1">
                  <p:embed/>
                </p:oleObj>
              </mc:Choice>
              <mc:Fallback>
                <p:oleObj name="think-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3F3504-9539-4146-B3C1-F25407A51609}"/>
              </a:ext>
            </a:extLst>
          </p:cNvPr>
          <p:cNvSpPr txBox="1"/>
          <p:nvPr userDrawn="1"/>
        </p:nvSpPr>
        <p:spPr bwMode="gray">
          <a:xfrm>
            <a:off x="8041197" y="6517421"/>
            <a:ext cx="1402628" cy="2564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ts val="950"/>
              </a:lnSpc>
            </a:pPr>
            <a:r>
              <a:rPr kumimoji="1" lang="en-US" altLang="ja-JP" sz="800" dirty="0"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 dirty="0">
                <a:latin typeface="+mn-lt"/>
                <a:cs typeface="+mn-cs"/>
                <a:sym typeface="+mn-lt"/>
              </a:rPr>
            </a:br>
            <a:r>
              <a:rPr kumimoji="1" lang="en-US" altLang="ja-JP" sz="800" b="1" dirty="0"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 dirty="0">
              <a:latin typeface="+mn-lt"/>
              <a:cs typeface="+mn-cs"/>
              <a:sym typeface="+mn-lt"/>
            </a:endParaRPr>
          </a:p>
        </p:txBody>
      </p:sp>
      <p:sp>
        <p:nvSpPr>
          <p:cNvPr id="10" name="テキスト プレースホルダー 13">
            <a:extLst>
              <a:ext uri="{FF2B5EF4-FFF2-40B4-BE49-F238E27FC236}">
                <a16:creationId xmlns:a16="http://schemas.microsoft.com/office/drawing/2014/main" id="{8D7302B4-C3B2-43C1-A9E9-2DFB590FF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17600" y="6336000"/>
            <a:ext cx="7020000" cy="127856"/>
          </a:xfrm>
        </p:spPr>
        <p:txBody>
          <a:bodyPr anchor="b" anchorCtr="0">
            <a:spAutoFit/>
          </a:bodyPr>
          <a:lstStyle>
            <a:lvl1pPr>
              <a:defRPr sz="800"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81D215A-DF31-4FC4-A706-4B6A3613D0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16496" y="431005"/>
            <a:ext cx="3447786" cy="5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Box 37">
            <a:extLst>
              <a:ext uri="{FF2B5EF4-FFF2-40B4-BE49-F238E27FC236}">
                <a16:creationId xmlns:a16="http://schemas.microsoft.com/office/drawing/2014/main" id="{5FB43949-A16F-4CF9-89FA-2868A80FA4F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17600" y="6588000"/>
            <a:ext cx="435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2022. For information, contact Deloitte Tohmatsu Group.</a:t>
            </a:r>
          </a:p>
        </p:txBody>
      </p:sp>
      <p:pic>
        <p:nvPicPr>
          <p:cNvPr id="12" name="図 11" descr="ロゴ, 会社名&#10;&#10;自動的に生成された説明">
            <a:extLst>
              <a:ext uri="{FF2B5EF4-FFF2-40B4-BE49-F238E27FC236}">
                <a16:creationId xmlns:a16="http://schemas.microsoft.com/office/drawing/2014/main" id="{4770B572-0E41-4F38-9C69-20D76FA470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 bwMode="gray">
          <a:xfrm>
            <a:off x="8050925" y="5472502"/>
            <a:ext cx="1440000" cy="8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6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（補足版） タイトルのみ_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0040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563" imgH="564" progId="TCLayout.ActiveDocument.1">
                  <p:embed/>
                </p:oleObj>
              </mc:Choice>
              <mc:Fallback>
                <p:oleObj name="think-cell スライド" r:id="rId3" imgW="563" imgH="564" progId="TCLayout.ActiveDocument.1">
                  <p:embed/>
                  <p:pic>
                    <p:nvPicPr>
                      <p:cNvPr id="6" name="オブジェクト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5" name="テキスト プレースホルダ 5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17000" y="1009580"/>
            <a:ext cx="9072000" cy="468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ja-JP" altLang="en-US" dirty="0"/>
              <a:t>補足文を入力（キーメッセージを補足する内容＜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行以内＞）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17000" y="1476000"/>
            <a:ext cx="4356000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b="1" baseline="0">
                <a:solidFill>
                  <a:schemeClr val="accent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kumimoji="1" lang="en-US" altLang="ja-JP" dirty="0"/>
              <a:t>Header</a:t>
            </a:r>
            <a:r>
              <a:rPr kumimoji="1" lang="ja-JP" altLang="en-US" dirty="0"/>
              <a:t>を入力（スライドタイトル）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kumimoji="1" lang="ja-JP" altLang="en-US" dirty="0"/>
          </a:p>
        </p:txBody>
      </p:sp>
      <p:sp>
        <p:nvSpPr>
          <p:cNvPr id="3" name="フッター プレースホルダ 8">
            <a:extLst>
              <a:ext uri="{FF2B5EF4-FFF2-40B4-BE49-F238E27FC236}">
                <a16:creationId xmlns:a16="http://schemas.microsoft.com/office/drawing/2014/main" id="{9D793F40-DEBC-686F-D832-D95E8253B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05600" y="6594439"/>
            <a:ext cx="4068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ja-JP" altLang="en-US"/>
              <a:t>令和７年度みやざき</a:t>
            </a:r>
            <a:r>
              <a:rPr kumimoji="1" lang="en-US" altLang="ja-JP"/>
              <a:t>DX</a:t>
            </a:r>
            <a:r>
              <a:rPr kumimoji="1" lang="ja-JP" altLang="en-US"/>
              <a:t>推進モデル企業創出事業　企画提案書</a:t>
            </a:r>
            <a:endParaRPr kumimoji="1" lang="en-GB" altLang="en-GB" dirty="0"/>
          </a:p>
        </p:txBody>
      </p:sp>
    </p:spTree>
    <p:extLst>
      <p:ext uri="{BB962C8B-B14F-4D97-AF65-F5344CB8AC3E}">
        <p14:creationId xmlns:p14="http://schemas.microsoft.com/office/powerpoint/2010/main" val="53829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435923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6" imgW="563" imgH="564" progId="TCLayout.ActiveDocument.1">
                  <p:embed/>
                </p:oleObj>
              </mc:Choice>
              <mc:Fallback>
                <p:oleObj name="think-cellスライド" r:id="rId16" imgW="563" imgH="564" progId="TCLayout.ActiveDocument.1">
                  <p:embed/>
                  <p:pic>
                    <p:nvPicPr>
                      <p:cNvPr id="4" name="オブジェクト 3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17000" y="180000"/>
            <a:ext cx="9072000" cy="6156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 dirty="0"/>
              <a:t>キーメッセージを入力（本スライドで一番伝えたいこと＜名詞止め・体言止め不可＞）</a:t>
            </a:r>
            <a:endParaRPr lang="en-US" noProof="0" dirty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05600" y="6588000"/>
            <a:ext cx="4068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A4</a:t>
            </a:r>
            <a:endParaRPr kumimoji="1" lang="en-GB" altLang="en-GB" dirty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176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16999" y="1476000"/>
            <a:ext cx="9073075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1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C0FFE5-9BDB-4F97-92E4-5E9243BDA74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4508167" y="6444000"/>
            <a:ext cx="889667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11" r:id="rId3"/>
    <p:sldLayoutId id="2147483912" r:id="rId4"/>
    <p:sldLayoutId id="2147483934" r:id="rId5"/>
    <p:sldLayoutId id="2147483936" r:id="rId6"/>
    <p:sldLayoutId id="2147483953" r:id="rId7"/>
    <p:sldLayoutId id="2147483937" r:id="rId8"/>
    <p:sldLayoutId id="2147483938" r:id="rId9"/>
    <p:sldLayoutId id="2147483939" r:id="rId10"/>
    <p:sldLayoutId id="2147483954" r:id="rId11"/>
    <p:sldLayoutId id="2147483956" r:id="rId12"/>
    <p:sldLayoutId id="2147483960" r:id="rId13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000" b="1" kern="1200" baseline="0">
          <a:solidFill>
            <a:schemeClr val="tx1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200" b="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180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360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200" b="0" kern="120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504000" marR="0" indent="-144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200" b="0" kern="1200" baseline="0" dirty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4pPr>
      <a:lvl5pPr marL="684000" indent="-180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864000" indent="-180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12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007">
          <p15:clr>
            <a:srgbClr val="A4A3A4"/>
          </p15:clr>
        </p15:guide>
        <p15:guide id="3" pos="3233">
          <p15:clr>
            <a:srgbClr val="A4A3A4"/>
          </p15:clr>
        </p15:guide>
        <p15:guide id="4" pos="5978">
          <p15:clr>
            <a:srgbClr val="A4A3A4"/>
          </p15:clr>
        </p15:guide>
        <p15:guide id="5" pos="262">
          <p15:clr>
            <a:srgbClr val="A4A3A4"/>
          </p15:clr>
        </p15:guide>
        <p15:guide id="6" orient="horz" pos="504">
          <p15:clr>
            <a:srgbClr val="A4A3A4"/>
          </p15:clr>
        </p15:guide>
        <p15:guide id="7" orient="horz" pos="640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D1417A6-11F2-E0F6-CB02-3C011F2DD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E56C22-CD92-4A50-AAD1-E2171E0619BD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D64CCC0E-CDF6-342F-6872-93DCAC8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00" y="75827"/>
            <a:ext cx="9072000" cy="615600"/>
          </a:xfrm>
        </p:spPr>
        <p:txBody>
          <a:bodyPr anchor="ctr"/>
          <a:lstStyle/>
          <a:p>
            <a:r>
              <a:rPr kumimoji="1" lang="ja-JP" altLang="en-US" dirty="0"/>
              <a:t>社内リソースの現況整理</a:t>
            </a:r>
            <a:r>
              <a:rPr kumimoji="1" lang="en-US" altLang="ja-JP" dirty="0"/>
              <a:t> </a:t>
            </a:r>
            <a:r>
              <a:rPr kumimoji="1" lang="en-JP" altLang="ja-JP" dirty="0"/>
              <a:t>【</a:t>
            </a:r>
            <a:r>
              <a:rPr kumimoji="1" lang="ja-JP" altLang="en-US" dirty="0"/>
              <a:t>１</a:t>
            </a:r>
            <a:r>
              <a:rPr kumimoji="1" lang="en-JP" altLang="ja-JP" dirty="0"/>
              <a:t>】</a:t>
            </a:r>
            <a:r>
              <a:rPr lang="en-US" altLang="ja-JP" dirty="0"/>
              <a:t> </a:t>
            </a:r>
            <a:r>
              <a:rPr lang="ja-JP" altLang="en-US" dirty="0"/>
              <a:t>現在の活用状況</a:t>
            </a:r>
            <a:endParaRPr kumimoji="1" lang="ja-JP" altLang="en-US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17C9367E-13E4-2D08-09CD-4090D7FD4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84150"/>
              </p:ext>
            </p:extLst>
          </p:nvPr>
        </p:nvGraphicFramePr>
        <p:xfrm>
          <a:off x="227312" y="695226"/>
          <a:ext cx="9446624" cy="588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656">
                  <a:extLst>
                    <a:ext uri="{9D8B030D-6E8A-4147-A177-3AD203B41FA5}">
                      <a16:colId xmlns:a16="http://schemas.microsoft.com/office/drawing/2014/main" val="3810725707"/>
                    </a:ext>
                  </a:extLst>
                </a:gridCol>
                <a:gridCol w="2361656">
                  <a:extLst>
                    <a:ext uri="{9D8B030D-6E8A-4147-A177-3AD203B41FA5}">
                      <a16:colId xmlns:a16="http://schemas.microsoft.com/office/drawing/2014/main" val="4173257847"/>
                    </a:ext>
                  </a:extLst>
                </a:gridCol>
                <a:gridCol w="2361656">
                  <a:extLst>
                    <a:ext uri="{9D8B030D-6E8A-4147-A177-3AD203B41FA5}">
                      <a16:colId xmlns:a16="http://schemas.microsoft.com/office/drawing/2014/main" val="2074102619"/>
                    </a:ext>
                  </a:extLst>
                </a:gridCol>
                <a:gridCol w="2361656">
                  <a:extLst>
                    <a:ext uri="{9D8B030D-6E8A-4147-A177-3AD203B41FA5}">
                      <a16:colId xmlns:a16="http://schemas.microsoft.com/office/drawing/2014/main" val="3603865917"/>
                    </a:ext>
                  </a:extLst>
                </a:gridCol>
              </a:tblGrid>
              <a:tr h="188001"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人</a:t>
                      </a:r>
                      <a:endParaRPr kumimoji="1" lang="en-US" altLang="ja-JP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モノ</a:t>
                      </a:r>
                    </a:p>
                  </a:txBody>
                  <a:tcPr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カネ</a:t>
                      </a:r>
                    </a:p>
                  </a:txBody>
                  <a:tcPr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0" dirty="0">
                          <a:solidFill>
                            <a:schemeClr val="tx1"/>
                          </a:solidFill>
                        </a:rPr>
                        <a:t>情報</a:t>
                      </a:r>
                    </a:p>
                  </a:txBody>
                  <a:tcPr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283811"/>
                  </a:ext>
                </a:extLst>
              </a:tr>
              <a:tr h="1870622"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① 人的リソースの充足度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常勤スタッフは少数で、理事・プロボノ・ボランティアが中心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講師は大学教員・IT企業技術者に謝金で依頼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常勤のコーディネーター・事務局人材の確保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① 設備性能、稼働率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自前の拠点は小規模な事務所のみ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会場は連携大学の演習室（夜間・土日）や公共施設・会員企業を借用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オンライン配信機材は最小限を保有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会場確保が貸し手の都合に左右される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① 財務健全性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収入は補助金・助成金・委託事業が中心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会費・寄付・受講料の比率は小さい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単年度で終わる事業が多い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特定の財源に頼らない収入構成づくり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① 情報・データの管理・活用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受講者・会員の情報は表計算ソフトで分散管理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事業報告用の集計が中心で、分析には未活用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受講後の行動変容・社内研修への展開を追跡できていない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626394"/>
                  </a:ext>
                </a:extLst>
              </a:tr>
              <a:tr h="1870622"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② 各人の能力、専門性、経験年数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理事・会員にIT企業経営者・大学教員・元行政職員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プロボノ技術者は実装・現場経験が豊富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スタッフは運営・地域調整に強い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経営層向け研修の企画力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② 製品・サービスの特長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非営利・中立の立場で産学官をつなぐDX/AX講座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IT企業・行政→中堅中小の経営層へと段階展開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学生と社会人が共に学ぶ場をつくる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経営層向けの短時間・実務直結型メニューが手薄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② 利益率、コスト構造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主なコストは講師謝金・人件費・会場費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プロボノと借用施設で固定費は低い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受講料を低く抑えており、単体収支は赤字〜均衡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企業負担型の有料メニューの確立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② 顧客基盤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会員のIT企業、自治体職員、連携大学の学生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中堅中小の経営層とは商工会議所・地銀経由の間接的な接点のみ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経営層との直接的なリレーション構築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2404"/>
                  </a:ext>
                </a:extLst>
              </a:tr>
              <a:tr h="1870622"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③ 各人の連携（部門・拠点間）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大学・IT企業・行政をつなぐ中立的なハブ役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ただし連携は理事個人の人脈頼み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連携協定など組織的な枠組みが未整備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③ 独自技術・知財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講師陣と共同開発した講座・教材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地域企業・行政の実例を使ったPBL教材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連携大学の研究成果を活用できる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教材の著作権の帰属（講師・大学）が未整理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③ 資金調達力、投資余力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民間財団の助成、休眠預金活用事業に応募可能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自治体の委託事業を受託できる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寄付を募れる（認定NPOは税優遇）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融資を受けにくく、先行投資の余力が乏しい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 b="1" dirty="0">
                          <a:solidFill>
                            <a:schemeClr val="tx1"/>
                          </a:solidFill>
                        </a:rPr>
                        <a:t>③ 市場情報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地域企業のDX/AX状況は自治体・商工会議所の調査程度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0" dirty="0">
                          <a:solidFill>
                            <a:schemeClr val="tx1"/>
                          </a:solidFill>
                        </a:rPr>
                        <a:t>民間オンライン講座・大学など競合の把握が不十分</a:t>
                      </a:r>
                    </a:p>
                    <a:p>
                      <a:pPr marL="144000" indent="-144000">
                        <a:spcBef>
                          <a:spcPts val="300"/>
                        </a:spcBef>
                        <a:buFont typeface="Arial"/>
                        <a:buChar char="•"/>
                      </a:pPr>
                      <a:r>
                        <a:rPr kumimoji="1" lang="ja-JP" altLang="en-US" sz="1000" b="1" dirty="0">
                          <a:solidFill>
                            <a:srgbClr val="007680"/>
                          </a:solidFill>
                        </a:rPr>
                        <a:t>課題：</a:t>
                      </a:r>
                      <a:r>
                        <a:rPr kumimoji="1" lang="ja-JP" altLang="en-US" sz="1000" b="0" dirty="0">
                          <a:solidFill>
                            <a:srgbClr val="007680"/>
                          </a:solidFill>
                        </a:rPr>
                        <a:t>地域の人材ニーズを定量把握する仕組みづくり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725251"/>
                  </a:ext>
                </a:extLst>
              </a:tr>
            </a:tbl>
          </a:graphicData>
        </a:graphic>
      </p:graphicFrame>
      <p:sp>
        <p:nvSpPr>
          <p:cNvPr id="9" name="対象事業"/>
          <p:cNvSpPr txBox="1"/>
          <p:nvPr/>
        </p:nvSpPr>
        <p:spPr>
          <a:xfrm>
            <a:off x="6300000" y="150000"/>
            <a:ext cx="3373936" cy="50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kumimoji="1" lang="ja-JP" altLang="en-US" sz="1000" b="1" dirty="0">
                <a:solidFill>
                  <a:srgbClr val="007680"/>
                </a:solidFill>
              </a:rPr>
              <a:t>対象事業：地方におけるリスキリング事業</a:t>
            </a:r>
          </a:p>
          <a:p>
            <a:pPr algn="r"/>
            <a:r>
              <a:rPr kumimoji="1" lang="ja-JP" altLang="en-US" sz="900" b="0" dirty="0">
                <a:solidFill>
                  <a:schemeClr val="tx1"/>
                </a:solidFill>
              </a:rPr>
              <a:t>（運営：非営利組織／AI・情報人材の育成・記入例）</a:t>
            </a:r>
          </a:p>
        </p:txBody>
      </p:sp>
    </p:spTree>
    <p:extLst>
      <p:ext uri="{BB962C8B-B14F-4D97-AF65-F5344CB8AC3E}">
        <p14:creationId xmlns:p14="http://schemas.microsoft.com/office/powerpoint/2010/main" val="23996862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A4_J_2022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T">
      <a:majorFont>
        <a:latin typeface="Calibri"/>
        <a:ea typeface="Yu Gothic UI"/>
        <a:cs typeface=""/>
      </a:majorFont>
      <a:minorFont>
        <a:latin typeface="Calibri Light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2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A4_J.pptx" id="{6F5BFB66-4361-42A8-B842-A0A3AD3032EF}" vid="{D3765FD4-9D4A-4E3D-8B8F-18ADE3BA1DA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AC0B10426E124C8F2B46906D9A42C9" ma:contentTypeVersion="9" ma:contentTypeDescription="Create a new document." ma:contentTypeScope="" ma:versionID="2aa87b9bcf165247ce71af6e81550b06">
  <xsd:schema xmlns:xsd="http://www.w3.org/2001/XMLSchema" xmlns:xs="http://www.w3.org/2001/XMLSchema" xmlns:p="http://schemas.microsoft.com/office/2006/metadata/properties" xmlns:ns3="a0a9c787-db28-489b-b6e5-9fce90a89bb0" targetNamespace="http://schemas.microsoft.com/office/2006/metadata/properties" ma:root="true" ma:fieldsID="9fdb8acdd34edf23dbba1ed31ad01ee8" ns3:_="">
    <xsd:import namespace="a0a9c787-db28-489b-b6e5-9fce90a89b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a9c787-db28-489b-b6e5-9fce90a89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80DE39-C4A4-4ECD-8626-879083098C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a9c787-db28-489b-b6e5-9fce90a89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21B286-A395-480F-812B-D3810D1663A3}">
  <ds:schemaRefs>
    <ds:schemaRef ds:uri="http://schemas.microsoft.com/office/2006/metadata/properties"/>
    <ds:schemaRef ds:uri="http://purl.org/dc/dcmitype/"/>
    <ds:schemaRef ds:uri="a0a9c787-db28-489b-b6e5-9fce90a89bb0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D69AE68-BD22-47AD-BB82-D5AA5426EC7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DT Template_A4_J (4)</Template>
  <TotalTime>23948</TotalTime>
  <Words>85</Words>
  <Application>Microsoft Office PowerPoint</Application>
  <PresentationFormat>A4 210 x 297 mm</PresentationFormat>
  <Paragraphs>18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Wingdings</vt:lpstr>
      <vt:lpstr>DT Template_A4_J_202201</vt:lpstr>
      <vt:lpstr>think-cellスライド</vt:lpstr>
      <vt:lpstr>think-cell スライド</vt:lpstr>
      <vt:lpstr>社内リソースの現況整理 【１】 現在の活用状況</vt:lpstr>
    </vt:vector>
  </TitlesOfParts>
  <Manager/>
  <Company>DTT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Administrator</dc:creator>
  <cp:lastModifiedBy>Osajima, Takeru</cp:lastModifiedBy>
  <cp:revision>565</cp:revision>
  <cp:lastPrinted>2019-06-13T07:52:20Z</cp:lastPrinted>
  <dcterms:created xsi:type="dcterms:W3CDTF">2022-05-30T06:43:40Z</dcterms:created>
  <dcterms:modified xsi:type="dcterms:W3CDTF">2026-10-06T21:47:21Z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0x01010081AC0B10426E124C8F2B46906D9A42C9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2021-06-10T06:45:02Z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345753b9-61e8-4351-aba5-64732c5426f6</vt:lpwstr>
  </property>
  <property fmtid="{D5CDD505-2E9C-101B-9397-08002B2CF9AE}" pid="9" name="MSIP_Label_ea60d57e-af5b-4752-ac57-3e4f28ca11dc_ContentBits">
    <vt:lpwstr>0</vt:lpwstr>
  </property>
</Properties>
</file>